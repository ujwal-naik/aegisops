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041131-3066-4C96-89F3-08040B884AD0}">
  <a:tblStyle styleId="{5B041131-3066-4C96-89F3-08040B884A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document/d/1pLjYjMwDef1GpGFA-UxE9673WqfSv-_oHPMVmUJkmh4/edit?usp=sharing" TargetMode="External"/><Relationship Id="rId5" Type="http://schemas.openxmlformats.org/officeDocument/2006/relationships/image" Target="../media/image2.jpg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ctrTitle"/>
          </p:nvPr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IDEA SUBMISSION PPT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5">
            <a:alphaModFix/>
          </a:blip>
          <a:srcRect b="0" l="37565" r="23017" t="0"/>
          <a:stretch/>
        </p:blipFill>
        <p:spPr>
          <a:xfrm rot="-5400000">
            <a:off x="930936" y="-769163"/>
            <a:ext cx="619200" cy="229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Rounded Rectangle 93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97280" y="128016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B2545"/>
                </a:solidFill>
                <a:latin typeface="Times New Roman"/>
              </a:rPr>
              <a:t>AEGISOPS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284C7"/>
                </a:solidFill>
                <a:latin typeface="Times New Roman"/>
              </a:rPr>
              <a:t>Offline-First Disaster Coordination &amp; DTN Mesh Platform</a:t>
            </a:r>
          </a:p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Track 1: Emergency Response Coordination After Disasters</a:t>
            </a:r>
          </a:p>
          <a:p>
            <a:pPr algn="ctr"/>
            <a:r>
              <a:rPr sz="900">
                <a:solidFill>
                  <a:srgbClr val="CBD5E1"/>
                </a:solidFill>
                <a:latin typeface="Times New Roman"/>
              </a:rPr>
              <a:t>—————————————————————————————————————————————————————————————————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8872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Times New Roman"/>
              </a:rPr>
              <a:t>Team &amp; Institution Information: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• Institution: </a:t>
            </a:r>
            <a:r>
              <a:rPr sz="1300" b="1">
                <a:solidFill>
                  <a:srgbClr val="1E293B"/>
                </a:solidFill>
                <a:latin typeface="Times New Roman"/>
              </a:rPr>
              <a:t>Mangalore Institute of Technology &amp; Engineering (MITE)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• Team Leader: </a:t>
            </a:r>
            <a:r>
              <a:rPr sz="1300" b="1">
                <a:solidFill>
                  <a:srgbClr val="1E293B"/>
                </a:solidFill>
                <a:latin typeface="Times New Roman"/>
              </a:rPr>
              <a:t>Thwish rai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• Team Members: </a:t>
            </a:r>
            <a:r>
              <a:rPr sz="1300" b="0">
                <a:solidFill>
                  <a:srgbClr val="1E293B"/>
                </a:solidFill>
                <a:latin typeface="Times New Roman"/>
              </a:rPr>
              <a:t>ujwal naik  •  shraddha  •  ninad d k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• Track: </a:t>
            </a:r>
            <a:r>
              <a:rPr sz="1300" b="0">
                <a:solidFill>
                  <a:srgbClr val="1E293B"/>
                </a:solidFill>
                <a:latin typeface="Times New Roman"/>
              </a:rPr>
              <a:t>Problem Statement 1 (Disaster Response)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• Public GitHub: </a:t>
            </a:r>
            <a:r>
              <a:rPr sz="1300" b="1">
                <a:solidFill>
                  <a:srgbClr val="0284C7"/>
                </a:solidFill>
                <a:latin typeface="Times New Roman"/>
              </a:rPr>
              <a:t>https://github.com/ujwal-naik/aegisops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9360" y="29260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Times New Roman"/>
              </a:rPr>
              <a:t>Shortlisting Submission Highlights: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Working Prototype: </a:t>
            </a:r>
            <a:r>
              <a:rPr sz="1300" b="1">
                <a:solidFill>
                  <a:srgbClr val="166534"/>
                </a:solidFill>
                <a:latin typeface="Times New Roman"/>
              </a:rPr>
              <a:t>100% Implemented &amp; Tested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Zero Dependency: </a:t>
            </a:r>
            <a:r>
              <a:rPr sz="1300" b="0">
                <a:solidFill>
                  <a:srgbClr val="1E293B"/>
                </a:solidFill>
                <a:latin typeface="Times New Roman"/>
              </a:rPr>
              <a:t>Runs 100% Offline (No Cloud/API Keys)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Clinical Triage: </a:t>
            </a:r>
            <a:r>
              <a:rPr sz="1300" b="0">
                <a:solidFill>
                  <a:srgbClr val="1E293B"/>
                </a:solidFill>
                <a:latin typeface="Times New Roman"/>
              </a:rPr>
              <a:t>START Protocol (Red / Yellow / Green / Black)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Spatial Intelligence: </a:t>
            </a:r>
            <a:r>
              <a:rPr sz="1300" b="0">
                <a:solidFill>
                  <a:srgbClr val="1E293B"/>
                </a:solidFill>
                <a:latin typeface="Times New Roman"/>
              </a:rPr>
              <a:t>Deduplication via Haversine &amp; Jaccard (&lt;500m)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Test Verification: </a:t>
            </a:r>
            <a:r>
              <a:rPr sz="1300" b="1">
                <a:solidFill>
                  <a:srgbClr val="166534"/>
                </a:solidFill>
                <a:latin typeface="Times New Roman"/>
              </a:rPr>
              <a:t>10/10 Passing Automated Pytest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PROBLEM STATEMENT &amp; PROBLEM GAP</a:t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06972" y="-782822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Rounded Rectangle 102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88720" y="132588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B2545"/>
                </a:solidFill>
                <a:latin typeface="Times New Roman"/>
              </a:rPr>
              <a:t>1. Problem Statement: Emergency Response Coordination After Disasters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Information Chaos: </a:t>
            </a:r>
            <a:r>
              <a:rPr sz="1350">
                <a:solidFill>
                  <a:srgbClr val="1E293B"/>
                </a:solidFill>
                <a:latin typeface="Times New Roman"/>
              </a:rPr>
              <a:t>In sudden floods or earthquakes, control rooms are overwhelmed by thousands of messy, duplicate, and vague SOS reports across calls, SMS, and messengers.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Rescue Starvation: </a:t>
            </a:r>
            <a:r>
              <a:rPr sz="1350">
                <a:solidFill>
                  <a:srgbClr val="1E293B"/>
                </a:solidFill>
                <a:latin typeface="Times New Roman"/>
              </a:rPr>
              <a:t>Rescue boats and ambulances are strictly scarce. Aid disproportionately flows to the loudest or best-connected urban areas, leaving cut-off pockets unassisted.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Telecom Fragility: </a:t>
            </a:r>
            <a:r>
              <a:rPr sz="1350">
                <a:solidFill>
                  <a:srgbClr val="1E293B"/>
                </a:solidFill>
                <a:latin typeface="Times New Roman"/>
              </a:rPr>
              <a:t>Cellular towers and power grids collapse in the impact zone, creating total communication blackouts when help is needed most.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" y="379476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B2545"/>
                </a:solidFill>
                <a:latin typeface="Times New Roman"/>
              </a:rPr>
              <a:t>2. Problem Gap: Why Existing Systems Fail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Cloud Dependency: </a:t>
            </a:r>
            <a:r>
              <a:rPr sz="1350">
                <a:solidFill>
                  <a:srgbClr val="1E293B"/>
                </a:solidFill>
                <a:latin typeface="Times New Roman"/>
              </a:rPr>
              <a:t>Existing tools (Ushahidi, Google Crisis Map, Twitter scrapers) require active internet; they fail completely in zero-connectivity blackout zones.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Zero Clinical Triage: </a:t>
            </a:r>
            <a:r>
              <a:rPr sz="1350">
                <a:solidFill>
                  <a:srgbClr val="1E293B"/>
                </a:solidFill>
                <a:latin typeface="Times New Roman"/>
              </a:rPr>
              <a:t>Current tools treat SOS alerts as unranked raw text streams without clinical urgency scoring (START medical triage protocol).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No Capability Matching: </a:t>
            </a:r>
            <a:r>
              <a:rPr sz="1350">
                <a:solidFill>
                  <a:srgbClr val="1E293B"/>
                </a:solidFill>
                <a:latin typeface="Times New Roman"/>
              </a:rPr>
              <a:t>Coordinators manually guess assignments without checking whether a vehicle matches terrain needs (e.g., sending vans to submerged roads).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PROPOSED SOLUTION &amp; INNOVATION</a:t>
            </a:r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11545" y="-756734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Rounded Rectangle 111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88720" y="128016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Times New Roman"/>
              </a:rPr>
              <a:t>Proposed Solution in One Sentence:
</a:t>
            </a:r>
            <a:r>
              <a:rPr sz="1300" i="1" b="1">
                <a:solidFill>
                  <a:srgbClr val="0284C7"/>
                </a:solidFill>
                <a:latin typeface="Times New Roman"/>
              </a:rPr>
              <a:t>"AegisOps is an offline-first disaster coordination platform that structures chaotic multi-channel reports, triages casualties via clinical START logic, merges spatial duplicates, and computes equitable ICS-204 capability dispatches over DTN mesh."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88720" y="21945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B2545"/>
                </a:solidFill>
                <a:latin typeface="Times New Roman"/>
              </a:rPr>
              <a:t>How The Solution Works: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1. Offline PWA Ingestion: </a:t>
            </a:r>
            <a:r>
              <a:rPr sz="1250">
                <a:solidFill>
                  <a:srgbClr val="1E293B"/>
                </a:solidFill>
                <a:latin typeface="Times New Roman"/>
              </a:rPr>
              <a:t>Volunteers log structured SOS alerts locally via Service Workers &amp; IndexedDB without internet.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2. START Clinical Triage: </a:t>
            </a:r>
            <a:r>
              <a:rPr sz="1250">
                <a:solidFill>
                  <a:srgbClr val="1E293B"/>
                </a:solidFill>
                <a:latin typeface="Times New Roman"/>
              </a:rPr>
              <a:t>NLP engine categorizes casualties into Immediate (Red), Delayed (Yellow), and Minor (Green).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3. Spatial Deduplication: </a:t>
            </a:r>
            <a:r>
              <a:rPr sz="1250">
                <a:solidFill>
                  <a:srgbClr val="1E293B"/>
                </a:solidFill>
                <a:latin typeface="Times New Roman"/>
              </a:rPr>
              <a:t>Haversine clustering (&lt;500m) merges duplicate reports into single high-confidence incidents.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4. Capability Dispatch: </a:t>
            </a:r>
            <a:r>
              <a:rPr sz="1250">
                <a:solidFill>
                  <a:srgbClr val="1E293B"/>
                </a:solidFill>
                <a:latin typeface="Times New Roman"/>
              </a:rPr>
              <a:t>Matches responder gear (Boats, Medics, USAR) to incident terrain and urgency.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17920" y="21945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B2545"/>
                </a:solidFill>
                <a:latin typeface="Times New Roman"/>
              </a:rPr>
              <a:t>Key Innovations &amp; Value: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• DTN Store-and-Forward Mesh: </a:t>
            </a:r>
            <a:r>
              <a:rPr sz="1250">
                <a:solidFill>
                  <a:srgbClr val="1E293B"/>
                </a:solidFill>
                <a:latin typeface="Times New Roman"/>
              </a:rPr>
              <a:t>Peer-to-peer bundle sync over Bluetooth/Wi-Fi Direct; guarantees zero packet loss in blackouts.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• Transparent Urgency Formula: </a:t>
            </a:r>
            <a:r>
              <a:rPr sz="1250">
                <a:solidFill>
                  <a:srgbClr val="1E293B"/>
                </a:solidFill>
                <a:latin typeface="Times New Roman"/>
              </a:rPr>
              <a:t>Auditable scoring: Urgency = (0.45 * Triage) + (0.30 * Vulnerability) + (0.25 * Hazard).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• Anti-Starvation Fairness: </a:t>
            </a:r>
            <a:r>
              <a:rPr sz="1250">
                <a:solidFill>
                  <a:srgbClr val="1E293B"/>
                </a:solidFill>
                <a:latin typeface="Times New Roman"/>
              </a:rPr>
              <a:t>Actively prioritizes remote pockets that have gone the longest without rescue verification.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• Sub-250ms Recommendations: </a:t>
            </a:r>
            <a:r>
              <a:rPr sz="1250">
                <a:solidFill>
                  <a:srgbClr val="1E293B"/>
                </a:solidFill>
                <a:latin typeface="Times New Roman"/>
              </a:rPr>
              <a:t>Delivers human-in-the-loop dispatch recommendations in under 250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SYSTEM ARCHITECTURE &amp; TECHNOLOGY STACK</a:t>
            </a:r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20689" y="-772519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Rounded Rectangle 121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architecture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1325880"/>
            <a:ext cx="9784080" cy="233172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188720" y="384048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B2545"/>
                </a:solidFill>
                <a:latin typeface="Times New Roman"/>
              </a:rPr>
              <a:t>Technology Stack &amp; Technical Specifications: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Offline Frontend: </a:t>
            </a:r>
            <a:r>
              <a:rPr sz="1350">
                <a:solidFill>
                  <a:srgbClr val="1E293B"/>
                </a:solidFill>
                <a:latin typeface="Times New Roman"/>
              </a:rPr>
              <a:t>Progressive Web App (PWA) • HTML5/CSS3 Tactical Dark Mode • Leaflet.js Tactical GIS • IndexedDB Vault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Backend &amp; Mesh: </a:t>
            </a:r>
            <a:r>
              <a:rPr sz="1350">
                <a:solidFill>
                  <a:srgbClr val="1E293B"/>
                </a:solidFill>
                <a:latin typeface="Times New Roman"/>
              </a:rPr>
              <a:t>Python 3.14 • FastAPI Asynchronous Framework • Uvicorn ASGI Server • RESTful DTN Sync Protocol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Algorithmic Standards: </a:t>
            </a:r>
            <a:r>
              <a:rPr sz="1350">
                <a:solidFill>
                  <a:srgbClr val="1E293B"/>
                </a:solidFill>
                <a:latin typeface="Times New Roman"/>
              </a:rPr>
              <a:t>Simple Triage &amp; Rapid Treatment (START) Medical Standard • ICS-204 Incident Command System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Zero Dependency: </a:t>
            </a:r>
            <a:r>
              <a:rPr sz="1350">
                <a:solidFill>
                  <a:srgbClr val="1E293B"/>
                </a:solidFill>
                <a:latin typeface="Times New Roman"/>
              </a:rPr>
              <a:t>100% Free &amp; Open-Source • Zero Paid API Keys • OpenStreetMap with Custom CSS Shader • 10/10 Passing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EXISTING VS PROPOSED SOLUTION &amp; MEASURABLE IMPACT</a:t>
            </a:r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38977" y="-756098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Rounded Rectangle 131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3" name="Table 132"/>
          <p:cNvGraphicFramePr>
            <a:graphicFrameLocks noGrp="1"/>
          </p:cNvGraphicFramePr>
          <p:nvPr/>
        </p:nvGraphicFramePr>
        <p:xfrm>
          <a:off x="1188720" y="1325880"/>
          <a:ext cx="9784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548640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Existing Disaster Approaches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Solution: AegisOps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Cloud-dependent forms; fails completely when towers collapse.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100% Offline-First PWA + DTN mesh; zero packet loss.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Manual sorting; loudest callers win (Rescue Starvation).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Clinical START triage NLP + Anti-Starvation equitable weighting.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Control rooms flooded with 40-60% duplicate SOS reports.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Haversine clustering (&lt;500m) merges duplicates automatically.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Ad-hoc dispatches with no capability or terrain checks.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Times New Roman"/>
                        </a:rPr>
                        <a:t>Automated ICS-204 task matching (Boats, Medics, USAR).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TextBox 133"/>
          <p:cNvSpPr txBox="1"/>
          <p:nvPr/>
        </p:nvSpPr>
        <p:spPr>
          <a:xfrm>
            <a:off x="1188720" y="384048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B2545"/>
                </a:solidFill>
                <a:latin typeface="Times New Roman"/>
              </a:rPr>
              <a:t>Key Measurable Impacts &amp; Public Benefit: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98% Latency Reduction: </a:t>
            </a:r>
            <a:r>
              <a:rPr sz="1350">
                <a:solidFill>
                  <a:srgbClr val="1E293B"/>
                </a:solidFill>
                <a:latin typeface="Times New Roman"/>
              </a:rPr>
              <a:t>Emergency triage processing cut from ~15 minutes down to &lt;250 milliseconds per incident.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&gt;45% Resource Optimization: </a:t>
            </a:r>
            <a:r>
              <a:rPr sz="1350">
                <a:solidFill>
                  <a:srgbClr val="1E293B"/>
                </a:solidFill>
                <a:latin typeface="Times New Roman"/>
              </a:rPr>
              <a:t>Spatial deduplication eliminates redundant dispatches and prevents wrong-vehicle errors.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2545"/>
                </a:solidFill>
                <a:latin typeface="Times New Roman"/>
              </a:rPr>
              <a:t>• Rescue Equity &amp; Zero Cost: </a:t>
            </a:r>
            <a:r>
              <a:rPr sz="1350">
                <a:solidFill>
                  <a:srgbClr val="1E293B"/>
                </a:solidFill>
                <a:latin typeface="Times New Roman"/>
              </a:rPr>
              <a:t>Guarantees fair aid distribution to isolated zones; runs 100% free with zero paid API subscriptions.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PROTOTYPE DEMONSTRATION &amp; IMPLEMENTATION PLAN</a:t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11545" y="-798384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Rounded Rectangle 140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88720" y="132588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2545"/>
                </a:solidFill>
                <a:latin typeface="Times New Roman"/>
              </a:rPr>
              <a:t>Implementation Plan (4 Phases):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6534"/>
                </a:solidFill>
                <a:latin typeface="Times New Roman"/>
              </a:rPr>
              <a:t>✔ Phase 1 (Completed): </a:t>
            </a:r>
            <a:r>
              <a:rPr sz="1200">
                <a:solidFill>
                  <a:srgbClr val="1E293B"/>
                </a:solidFill>
                <a:latin typeface="Times New Roman"/>
              </a:rPr>
              <a:t>Core START Triage NLP, Spatial Deduplication &amp; ICS-204 Optimizer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6534"/>
                </a:solidFill>
                <a:latin typeface="Times New Roman"/>
              </a:rPr>
              <a:t>✔ Phase 2 (Completed): </a:t>
            </a:r>
            <a:r>
              <a:rPr sz="1200">
                <a:solidFill>
                  <a:srgbClr val="1E293B"/>
                </a:solidFill>
                <a:latin typeface="Times New Roman"/>
              </a:rPr>
              <a:t>Tactical Dark Leaflet GIS Dashboard &amp; Offline PWA Sync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284C7"/>
                </a:solidFill>
                <a:latin typeface="Times New Roman"/>
              </a:rPr>
              <a:t>→ Phase 3 (Next - Round 2): </a:t>
            </a:r>
            <a:r>
              <a:rPr sz="1200">
                <a:solidFill>
                  <a:srgbClr val="1E293B"/>
                </a:solidFill>
                <a:latin typeface="Times New Roman"/>
              </a:rPr>
              <a:t>ESP32 LoRa &amp; Bluetooth Low Energy (BLE) Hardware Mesh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284C7"/>
                </a:solidFill>
                <a:latin typeface="Times New Roman"/>
              </a:rPr>
              <a:t>→ Phase 4 (Scale): </a:t>
            </a:r>
            <a:r>
              <a:rPr sz="1200">
                <a:solidFill>
                  <a:srgbClr val="1E293B"/>
                </a:solidFill>
                <a:latin typeface="Times New Roman"/>
              </a:rPr>
              <a:t>Multi-Agency SDMA / NDRF CAP Protocol Integration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500" b="1">
                <a:solidFill>
                  <a:srgbClr val="0B2545"/>
                </a:solidFill>
                <a:latin typeface="Times New Roman"/>
              </a:rPr>
              <a:t>Prototype Status &amp; Public Links: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• Status: </a:t>
            </a:r>
            <a:r>
              <a:rPr sz="1200" b="1">
                <a:solidFill>
                  <a:srgbClr val="166534"/>
                </a:solidFill>
                <a:latin typeface="Times New Roman"/>
              </a:rPr>
              <a:t>100% Implemented &amp; Verified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• GitHub: </a:t>
            </a:r>
            <a:r>
              <a:rPr sz="1200" b="0">
                <a:solidFill>
                  <a:srgbClr val="0284C7"/>
                </a:solidFill>
                <a:latin typeface="Times New Roman"/>
              </a:rPr>
              <a:t>https://github.com/ujwal-naik/aegisops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545"/>
                </a:solidFill>
                <a:latin typeface="Times New Roman"/>
              </a:rPr>
              <a:t>• Video Pitch: </a:t>
            </a:r>
            <a:r>
              <a:rPr sz="1200" b="0">
                <a:solidFill>
                  <a:srgbClr val="0284C7"/>
                </a:solidFill>
                <a:latin typeface="Times New Roman"/>
              </a:rPr>
              <a:t>https://drive.google.com/file/d/your-presentation-video-link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03504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2545"/>
                </a:solidFill>
                <a:latin typeface="Times New Roman"/>
              </a:rPr>
              <a:t>Live Tactical GIS Command Dashboard:</a:t>
            </a:r>
          </a:p>
        </p:txBody>
      </p:sp>
      <p:pic>
        <p:nvPicPr>
          <p:cNvPr id="144" name="Picture 143" descr="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737360"/>
            <a:ext cx="5029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HACKATHON EVALUATION ALIGNMENT &amp; CONCLUSION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88720" y="128016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50" b="1">
                <a:solidFill>
                  <a:srgbClr val="0B2545"/>
                </a:solidFill>
                <a:latin typeface="Times New Roman"/>
              </a:rPr>
              <a:t>Alignment with Problem Statement 1 Evaluation Criteria: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1. Feasibility &amp; Approach: </a:t>
            </a:r>
            <a:r>
              <a:rPr sz="1250">
                <a:solidFill>
                  <a:srgbClr val="1E293B"/>
                </a:solidFill>
                <a:latin typeface="Times New Roman"/>
              </a:rPr>
              <a:t>Engineered for real-world chaotic disaster data (messy text, vague coordinates, high duplicate volume). Tested and verified locally with zero cloud latency.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2. Transparent Logic: </a:t>
            </a:r>
            <a:r>
              <a:rPr sz="1250">
                <a:solidFill>
                  <a:srgbClr val="1E293B"/>
                </a:solidFill>
                <a:latin typeface="Times New Roman"/>
              </a:rPr>
              <a:t>Full explainability: every incident displays its exact triage formula breakdown (Triage 0.45 + Vulnerability 0.30 + Hazard 0.25) with plain-English reasoning.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3. Equitable Focus: </a:t>
            </a:r>
            <a:r>
              <a:rPr sz="1250">
                <a:solidFill>
                  <a:srgbClr val="1E293B"/>
                </a:solidFill>
                <a:latin typeface="Times New Roman"/>
              </a:rPr>
              <a:t>Anti-starvation algorithm ensures remote, low-connectivity pockets receive equal rescue priority against loud, well-connected urban centers.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2545"/>
                </a:solidFill>
                <a:latin typeface="Times New Roman"/>
              </a:rPr>
              <a:t>✔ 4. Human-in-the-Loop: </a:t>
            </a:r>
            <a:r>
              <a:rPr sz="1250">
                <a:solidFill>
                  <a:srgbClr val="1E293B"/>
                </a:solidFill>
                <a:latin typeface="Times New Roman"/>
              </a:rPr>
              <a:t>System acts as an AI copilot: coordinators retain 1-click authority to approve, reassign, or override all ICS-204 capability dispatches.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88720" y="502920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Times New Roman"/>
              </a:rPr>
              <a:t>Project &amp; Team Summary: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B2545"/>
                </a:solidFill>
                <a:latin typeface="Times New Roman"/>
              </a:rPr>
              <a:t>• Institution: </a:t>
            </a:r>
            <a:r>
              <a:rPr sz="1200" b="1">
                <a:solidFill>
                  <a:srgbClr val="0284C7"/>
                </a:solidFill>
                <a:latin typeface="Times New Roman"/>
              </a:rPr>
              <a:t>Mangalore Institute of Technology &amp; Engineering (MITE)</a:t>
            </a:r>
            <a:r>
              <a:rPr sz="1200" b="1">
                <a:solidFill>
                  <a:srgbClr val="0B2545"/>
                </a:solidFill>
                <a:latin typeface="Times New Roman"/>
              </a:rPr>
              <a:t>   |   Leader: </a:t>
            </a:r>
            <a:r>
              <a:rPr sz="1200" b="1">
                <a:solidFill>
                  <a:srgbClr val="0B2545"/>
                </a:solidFill>
                <a:latin typeface="Times New Roman"/>
              </a:rPr>
              <a:t>Thwish rai</a:t>
            </a:r>
            <a:r>
              <a:rPr sz="1200">
                <a:solidFill>
                  <a:srgbClr val="1E293B"/>
                </a:solidFill>
                <a:latin typeface="Times New Roman"/>
              </a:rPr>
              <a:t>   |   Members: ujwal naik, shraddha, ninad d k</a:t>
            </a:r>
          </a:p>
          <a:p>
            <a:r>
              <a:rPr sz="1200" b="1">
                <a:solidFill>
                  <a:srgbClr val="0B2545"/>
                </a:solidFill>
                <a:latin typeface="Times New Roman"/>
              </a:rPr>
              <a:t>• Public Repository: </a:t>
            </a:r>
            <a:r>
              <a:rPr sz="1200" b="1">
                <a:solidFill>
                  <a:srgbClr val="0284C7"/>
                </a:solidFill>
                <a:latin typeface="Times New Roman"/>
              </a:rPr>
              <a:t>https://github.com/ujwal-naik/aegisops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